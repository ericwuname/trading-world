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latin typeface="Microsoft YaHei"/>
              </a:rPr>
              <a:t>峰度（分布的尖尾程度）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值</c:v>
                </c:pt>
              </c:strCache>
            </c:strRef>
          </c:tx>
          <c:spPr>
            <a:solidFill>
              <a:srgbClr val="2F6FED"/>
            </a:solidFill>
          </c:spPr>
          <c:cat>
            <c:strRef>
              <c:f>Sheet1!$A$2:$A$5</c:f>
              <c:strCache>
                <c:ptCount val="4"/>
                <c:pt idx="0">
                  <c:v>只留看基本面</c:v>
                </c:pt>
                <c:pt idx="1">
                  <c:v>只留看图表</c:v>
                </c:pt>
                <c:pt idx="2">
                  <c:v>混合</c:v>
                </c:pt>
                <c:pt idx="3">
                  <c:v>真实 BTC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0.23838644860776226</c:v>
                </c:pt>
                <c:pt idx="1">
                  <c:v>2.930652597549832</c:v>
                </c:pt>
                <c:pt idx="2">
                  <c:v>8.26065667867836</c:v>
                </c:pt>
                <c:pt idx="3">
                  <c:v>10.262057498716937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 b="1"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latin typeface="Microsoft YaHei"/>
              </a:rPr>
              <a:t>同样一笔要卖的量，只改拆成几片（基点）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值</c:v>
                </c:pt>
              </c:strCache>
            </c:strRef>
          </c:tx>
          <c:spPr>
            <a:ln w="31750">
              <a:solidFill>
                <a:srgbClr val="2F6FED"/>
              </a:solidFill>
            </a:ln>
          </c:spPr>
          <c:cat>
            <c:strRef>
              <c:f>Sheet1!$A$2:$A$8</c:f>
              <c:strCache>
                <c:ptCount val="7"/>
                <c:pt idx="0">
                  <c:v>1 片</c:v>
                </c:pt>
                <c:pt idx="1">
                  <c:v>2 片</c:v>
                </c:pt>
                <c:pt idx="2">
                  <c:v>5 片</c:v>
                </c:pt>
                <c:pt idx="3">
                  <c:v>10 片</c:v>
                </c:pt>
                <c:pt idx="4">
                  <c:v>25 片</c:v>
                </c:pt>
                <c:pt idx="5">
                  <c:v>50 片</c:v>
                </c:pt>
                <c:pt idx="6">
                  <c:v>100 片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-148.38141852072445</c:v>
                </c:pt>
                <c:pt idx="1">
                  <c:v>-124.60347145292869</c:v>
                </c:pt>
                <c:pt idx="2">
                  <c:v>-110.56663095924694</c:v>
                </c:pt>
                <c:pt idx="3">
                  <c:v>-84.65371527622409</c:v>
                </c:pt>
                <c:pt idx="4">
                  <c:v>-46.55273837704793</c:v>
                </c:pt>
                <c:pt idx="5">
                  <c:v>-26.757882531289518</c:v>
                </c:pt>
                <c:pt idx="6">
                  <c:v>-14.074321971581691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sz="1200" b="1"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latin typeface="Microsoft YaHei"/>
              </a:rPr>
              <a:t>目标清算规模 → 真的卖出去的比例（%）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值</c:v>
                </c:pt>
              </c:strCache>
            </c:strRef>
          </c:tx>
          <c:spPr>
            <a:ln w="31750">
              <a:solidFill>
                <a:srgbClr val="2F6FED"/>
              </a:solidFill>
            </a:ln>
          </c:spPr>
          <c:cat>
            <c:strRef>
              <c:f>Sheet1!$A$2:$A$8</c:f>
              <c:strCache>
                <c:ptCount val="7"/>
                <c:pt idx="0">
                  <c:v>0.10%</c:v>
                </c:pt>
                <c:pt idx="1">
                  <c:v>0.25%</c:v>
                </c:pt>
                <c:pt idx="2">
                  <c:v>0.50%</c:v>
                </c:pt>
                <c:pt idx="3">
                  <c:v>1.00%</c:v>
                </c:pt>
                <c:pt idx="4">
                  <c:v>2.00%</c:v>
                </c:pt>
                <c:pt idx="5">
                  <c:v>4.00%</c:v>
                </c:pt>
                <c:pt idx="6">
                  <c:v>8.00%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100.0</c:v>
                </c:pt>
                <c:pt idx="1">
                  <c:v>84.09886049493743</c:v>
                </c:pt>
                <c:pt idx="2">
                  <c:v>54.64394840476354</c:v>
                </c:pt>
                <c:pt idx="3">
                  <c:v>32.3070665790118</c:v>
                </c:pt>
                <c:pt idx="4">
                  <c:v>15.755542733077958</c:v>
                </c:pt>
                <c:pt idx="5">
                  <c:v>7.868621390490049</c:v>
                </c:pt>
                <c:pt idx="6">
                  <c:v>3.524837129964526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200" b="1"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latin typeface="Microsoft YaHei"/>
              </a:rPr>
              <a:t>市场波动率 σ（基点/tick）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值</c:v>
                </c:pt>
              </c:strCache>
            </c:strRef>
          </c:tx>
          <c:spPr>
            <a:solidFill>
              <a:srgbClr val="2F6FED"/>
            </a:solidFill>
          </c:spPr>
          <c:cat>
            <c:strRef>
              <c:f>Sheet1!$A$2:$A$3</c:f>
              <c:strCache>
                <c:ptCount val="2"/>
                <c:pt idx="0">
                  <c:v>照抄 2.00%</c:v>
                </c:pt>
                <c:pt idx="1">
                  <c:v>收窄 0.05%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511.6383559828769</c:v>
                </c:pt>
                <c:pt idx="1">
                  <c:v>18.27999556847035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 b="1"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1A1D21"/>
                </a:solidFill>
                <a:latin typeface="Microsoft YaHei"/>
              </a:rPr>
              <a:t>交易世界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6B727A"/>
                </a:solidFill>
                <a:latin typeface="Microsoft YaHei"/>
              </a:rPr>
              <a:t>一个用几百个「人」造出来的加密市场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6B727A"/>
                </a:solidFill>
                <a:latin typeface="Microsoft YaHei"/>
              </a:rPr>
              <a:t>以及我们用它排除掉的那些看起来合理的解释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663440"/>
            <a:ext cx="2743200" cy="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7A"/>
                </a:solidFill>
                <a:latin typeface="Microsoft YaHei"/>
              </a:rPr>
              <a:t>2026-10-04 ｜ 全部数字由脚本从产物现算，非手抄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快照 2026-10-04 ｜ 数字以仓库 docs/交易世界-讲给人听.html 为准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FED"/>
                </a:solidFill>
                <a:latin typeface="Microsoft YaHei"/>
              </a:rPr>
              <a:t>一句话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D21"/>
                </a:solidFill>
                <a:latin typeface="Microsoft YaHei"/>
              </a:rPr>
              <a:t>我们做了什么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2011680" cy="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D21"/>
                </a:solidFill>
                <a:latin typeface="Microsoft YaHei"/>
              </a:rPr>
              <a:t>我们造了一个可复现的人工加密市场，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D21"/>
                </a:solidFill>
                <a:latin typeface="Microsoft YaHei"/>
              </a:rPr>
              <a:t>把「加密市场为什么长这样」拆到了最小机制。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6B727A"/>
                </a:solidFill>
                <a:latin typeface="Microsoft YaHei"/>
              </a:rPr>
              <a:t>几百个按固定规则交易的机器人，在自己长出来的订单簿里互相买卖 ——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6B727A"/>
                </a:solidFill>
                <a:latin typeface="Microsoft YaHei"/>
              </a:rPr>
              <a:t>价格不是输入，是结果。于是每个现象都可以被追问：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6B727A"/>
                </a:solidFill>
                <a:latin typeface="Microsoft YaHei"/>
              </a:rPr>
              <a:t>到底是哪一件事负责这个现象？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快照 2026-10-04 ｜ 数字以仓库 docs/交易世界-讲给人听.html 为准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FED"/>
                </a:solidFill>
                <a:latin typeface="Microsoft YaHei"/>
              </a:rPr>
              <a:t>不是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D21"/>
                </a:solidFill>
                <a:latin typeface="Microsoft YaHei"/>
              </a:rPr>
              <a:t>我们先排除了什么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2011680" cy="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04536"/>
                </a:solidFill>
                <a:latin typeface="Microsoft YaHei"/>
              </a:rPr>
              <a:t>① 照抄别人的参数没用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40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B727A"/>
                </a:solidFill>
                <a:latin typeface="Microsoft YaHei"/>
              </a:rPr>
              <a:t>照抄施工蓝图的报价幅度 ⇒ 波动率变成真实 BTC 的 10.7 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04536"/>
                </a:solidFill>
                <a:latin typeface="Microsoft YaHei"/>
              </a:rPr>
              <a:t>② 大模型交易没打赢「随机吃单」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337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B727A"/>
                </a:solidFill>
                <a:latin typeface="Microsoft YaHei"/>
              </a:rPr>
              <a:t>同一段行情：随机吃单 +2.89%，大模型 -0.03%。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04536"/>
                </a:solidFill>
                <a:latin typeface="Microsoft YaHei"/>
              </a:rPr>
              <a:t>③ 一个常用指标不能用来给策略排名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434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B727A"/>
                </a:solidFill>
                <a:latin typeface="Microsoft YaHei"/>
              </a:rPr>
              <a:t>冲击曲线的斜率在不同配置之间的差异，测不出来 —— 给噪声排名是自欺。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8A63"/>
                </a:solidFill>
                <a:latin typeface="Microsoft YaHei"/>
              </a:rPr>
              <a:t>⭐ 能排除掉什么，往往比能证明什么更能说明这套东西可不可信。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快照 2026-10-04 ｜ 数字以仓库 docs/交易世界-讲给人听.html 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FED"/>
                </a:solidFill>
                <a:latin typeface="Microsoft YaHei"/>
              </a:rPr>
              <a:t>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D21"/>
                </a:solidFill>
                <a:latin typeface="Microsoft YaHei"/>
              </a:rPr>
              <a:t>肥尾是「两种人」共存的产物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2011680" cy="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783080"/>
          <a:ext cx="58521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19202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只留看基本面的：0.24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近似正态，肥尾被抹平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926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只留看图表的：σ 409bp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（混合池的 5.9 倍，爆炸）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39319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B5760B"/>
                </a:solidFill>
                <a:latin typeface="Microsoft YaHei"/>
              </a:rPr>
              <a:t>⚠️ 「只有混合池」不是单看峰度 ——「只有零智能」峰度也有 8.38，但它的涨跌几乎不记忆（0.04，真实 0.26）。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快照 2026-10-04 ｜ 数字以仓库 docs/交易世界-讲给人听.html 为准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FED"/>
                </a:solidFill>
                <a:latin typeface="Microsoft YaHei"/>
              </a:rPr>
              <a:t>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D21"/>
                </a:solidFill>
                <a:latin typeface="Microsoft YaHei"/>
              </a:rPr>
              <a:t>市场的深度来自时间，不是来自钱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2011680" cy="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783080"/>
          <a:ext cx="60350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23760" y="201168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A1D21"/>
                </a:solidFill>
                <a:latin typeface="Microsoft YaHei"/>
              </a:rPr>
              <a:t>冲击缩小 10.5 倍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A1D21"/>
                </a:solidFill>
                <a:latin typeface="Microsoft YaHei"/>
              </a:rPr>
              <a:t>成交率 16% → 98%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329184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B727A"/>
                </a:solidFill>
                <a:latin typeface="Microsoft YaHei"/>
              </a:rPr>
              <a:t>盘口像一层很薄的浮冰。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6B727A"/>
                </a:solidFill>
                <a:latin typeface="Microsoft YaHei"/>
              </a:rPr>
              <a:t>大单不是「把价格推下去」，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6B727A"/>
                </a:solidFill>
                <a:latin typeface="Microsoft YaHei"/>
              </a:rPr>
              <a:t>是把冰踩碎了 —— 后面没冰了，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6B727A"/>
                </a:solidFill>
                <a:latin typeface="Microsoft YaHei"/>
              </a:rPr>
              <a:t>只能自己往下挖。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48463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5760B"/>
                </a:solidFill>
                <a:latin typeface="Microsoft YaHei"/>
              </a:rPr>
              <a:t>⚠️ 本模型冲击是线性的（真实是凹的）⇒ 大单成本被高估，方向可信、幅度要打折。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快照 2026-10-04 ｜ 数字以仓库 docs/交易世界-讲给人听.html 为准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FED"/>
                </a:solidFill>
                <a:latin typeface="Microsoft YaHei"/>
              </a:rPr>
              <a:t>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D21"/>
                </a:solidFill>
                <a:latin typeface="Microsoft YaHei"/>
              </a:rPr>
              <a:t>大单的真实代价不在价格，在「成交不了」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2011680" cy="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783080"/>
          <a:ext cx="60350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23760" y="201168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04536"/>
                </a:solidFill>
                <a:latin typeface="Microsoft YaHei"/>
              </a:rPr>
              <a:t>卖得出去的比例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C04536"/>
                </a:solidFill>
                <a:latin typeface="Microsoft YaHei"/>
              </a:rPr>
              <a:t>100% → 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338328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B727A"/>
                </a:solidFill>
                <a:latin typeface="Microsoft YaHei"/>
              </a:rPr>
              <a:t>而冲击几乎不再变大（饱和了）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6B727A"/>
                </a:solidFill>
                <a:latin typeface="Microsoft YaHei"/>
              </a:rPr>
              <a:t>—— 你以为的「冲击」，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6B727A"/>
                </a:solidFill>
                <a:latin typeface="Microsoft YaHei"/>
              </a:rPr>
              <a:t>大部分其实是「没成交」。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4846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8A63"/>
                </a:solidFill>
                <a:latin typeface="Microsoft YaHei"/>
              </a:rPr>
              <a:t>顺带：有做市商时清算冲击是 0.24 倍（无做市商时）。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快照 2026-10-04 ｜ 数字以仓库 docs/交易世界-讲给人听.html 为准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FED"/>
                </a:solidFill>
                <a:latin typeface="Microsoft YaHei"/>
              </a:rPr>
              <a:t>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D21"/>
                </a:solidFill>
                <a:latin typeface="Microsoft YaHei"/>
              </a:rPr>
              <a:t>一个看起来只是「风格选择」的参数，决定了市场的情绪量级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2011680" cy="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783080"/>
          <a:ext cx="54864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A1D21"/>
                </a:solidFill>
                <a:latin typeface="Microsoft YaHei"/>
              </a:rPr>
              <a:t>真实 BTC 的 47.9bp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4688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A1D21"/>
                </a:solidFill>
                <a:latin typeface="Microsoft YaHei"/>
              </a:rPr>
              <a:t>照抄 ⇒ 10.67 倍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A1D21"/>
                </a:solidFill>
                <a:latin typeface="Microsoft YaHei"/>
              </a:rPr>
              <a:t>收窄 ⇒ 0.38 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34747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B727A"/>
                </a:solidFill>
                <a:latin typeface="Microsoft YaHei"/>
              </a:rPr>
              <a:t>而且波动率还跟参与者数量绑着：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6B727A"/>
                </a:solidFill>
                <a:latin typeface="Microsoft YaHei"/>
              </a:rPr>
              <a:t>「σ 标定好了」必须同时说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6B727A"/>
                </a:solidFill>
                <a:latin typeface="Microsoft YaHei"/>
              </a:rPr>
              <a:t>「在多少个参与者下标定的」。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4846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5760B"/>
                </a:solidFill>
                <a:latin typeface="Microsoft YaHei"/>
              </a:rPr>
              <a:t>⚠️ 价差、盘口深度、单笔流量标不了 —— 说不成「标定过了」就不说。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快照 2026-10-04 ｜ 数字以仓库 docs/交易世界-讲给人听.html 为准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FED"/>
                </a:solidFill>
                <a:latin typeface="Microsoft YaHei"/>
              </a:rPr>
              <a:t>可信度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D21"/>
                </a:solidFill>
                <a:latin typeface="Microsoft YaHei"/>
              </a:rPr>
              <a:t>我们推翻了自己一次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2011680" cy="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>
                <a:solidFill>
                  <a:srgbClr val="6B727A"/>
                </a:solidFill>
                <a:latin typeface="Microsoft YaHei"/>
              </a:rPr>
              <a:t>立项时最想解释的现象：一笔大单砸下去之后，价格还会继续同向走。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8A63"/>
                </a:solidFill>
                <a:latin typeface="Microsoft YaHei"/>
              </a:rPr>
              <a:t>我们测出来了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模拟里确实出现：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大单砸下去，后面几十个 tick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还在继续同向走。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我们把它写进了报告。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651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04536"/>
                </a:solidFill>
                <a:latin typeface="Microsoft YaHei"/>
              </a:rPr>
              <a:t>然后我们把它推翻了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1546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加了一个对照组：同一时刻、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一个完全没下过单的市场。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对照组也在涨。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那个「延续」是市场自己的漂移。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029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04536"/>
                </a:solidFill>
                <a:latin typeface="Microsoft YaHei"/>
              </a:rPr>
              <a:t>结论：未能证实。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8A63"/>
                </a:solidFill>
                <a:latin typeface="Microsoft YaHei"/>
              </a:rPr>
              <a:t>⭐ 任何只报告正面结果的「模拟验证」，都可以先问一句：它有没有推翻过什么。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快照 2026-10-04 ｜ 数字以仓库 docs/交易世界-讲给人听.html 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FED"/>
                </a:solidFill>
                <a:latin typeface="Microsoft YaHei"/>
              </a:rP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D21"/>
                </a:solidFill>
                <a:latin typeface="Microsoft YaHei"/>
              </a:rPr>
              <a:t>大模型炒币：两句话必须一起说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2011680" cy="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6B727A"/>
                </a:solidFill>
                <a:latin typeface="Microsoft YaHei"/>
              </a:rPr>
              <a:t>策略                   净收益       回撤       夏普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D21"/>
                </a:solidFill>
                <a:latin typeface="Microsoft YaHei"/>
              </a:rPr>
              <a:t>noop              +0.00%    0.00%      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7860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D21"/>
                </a:solidFill>
                <a:latin typeface="Microsoft YaHei"/>
              </a:rPr>
              <a:t>momentum          +3.02%    0.90%    11.66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62656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D21"/>
                </a:solidFill>
                <a:latin typeface="Microsoft YaHei"/>
              </a:rPr>
              <a:t>meanrevert        -3.65%    4.30%   -14.03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46704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D21"/>
                </a:solidFill>
                <a:latin typeface="Microsoft YaHei"/>
              </a:rPr>
              <a:t>random_taker      +2.89%    0.37%    17.29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3075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04536"/>
                </a:solidFill>
                <a:latin typeface="Microsoft YaHei"/>
              </a:rPr>
              <a:t>llm_v2            -0.03%    1.78%    -0.09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8288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D21"/>
                </a:solidFill>
                <a:latin typeface="Microsoft YaHei"/>
              </a:rPr>
              <a:t>第一句：点估计上它落后（-0.03% vs 随机吃单 +2.89%）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0175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D21"/>
                </a:solidFill>
                <a:latin typeface="Microsoft YaHei"/>
              </a:rPr>
              <a:t>第二句：统计上分不出差别（区间重叠 43%~70%，需 545~836 个样本，现在只有 120 个）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3891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8A63"/>
                </a:solidFill>
                <a:latin typeface="Microsoft YaHei"/>
              </a:rPr>
              <a:t>⇒ 不是「它更差」，也不是「它更好」。是用这一批样本分不出差别。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快照 2026-10-04 ｜ 数字以仓库 docs/交易世界-讲给人听.html 为准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FED"/>
                </a:solidFill>
                <a:latin typeface="Microsoft YaHei"/>
              </a:rPr>
              <a:t>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D21"/>
                </a:solidFill>
                <a:latin typeface="Microsoft YaHei"/>
              </a:rPr>
              <a:t>这个台子的边界（会让人误判的地方）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2011680" cy="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A1D21"/>
                </a:solidFill>
                <a:latin typeface="Microsoft YaHei"/>
              </a:rPr>
              <a:t>·  冲击是线性的，真实是凹的 ⇒ 大单成本被高估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A1D21"/>
                </a:solidFill>
                <a:latin typeface="Microsoft YaHei"/>
              </a:rPr>
              <a:t>·  没有手续费 / 资金费率 / 借券成本 ⇒ 高频做市类策略被高估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6265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6B727A"/>
                </a:solidFill>
                <a:latin typeface="Microsoft YaHei"/>
              </a:rPr>
              <a:t>·  没有自动减仓 / 保险基金 / 跨保证金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958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6B727A"/>
                </a:solidFill>
                <a:latin typeface="Microsoft YaHei"/>
              </a:rPr>
              <a:t>·  参与者同质、规则固定 ⇒ 遇不到「别人也在学习适应」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965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6B727A"/>
                </a:solidFill>
                <a:latin typeface="Microsoft YaHei"/>
              </a:rPr>
              <a:t>·  冲击曲线斜率不能跨配置比较 ⇒ 不能给策略排名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6B727A"/>
                </a:solidFill>
                <a:latin typeface="Microsoft YaHei"/>
              </a:rPr>
              <a:t>·  波动率依赖参与者数量 ⇒ 换 N 只能比相对差值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B5760B"/>
                </a:solidFill>
                <a:latin typeface="Microsoft YaHei"/>
              </a:rPr>
              <a:t>一个工具只讲能做什么、不讲不能做什么，那它是在推销。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快照 2026-10-04 ｜ 数字以仓库 docs/交易世界-讲给人听.html 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FED"/>
                </a:solidFill>
                <a:latin typeface="Microsoft YaHei"/>
              </a:rPr>
              <a:t>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D21"/>
                </a:solidFill>
                <a:latin typeface="Microsoft YaHei"/>
              </a:rPr>
              <a:t>这个台子现在能回答什么、还答不了什么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2011680" cy="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F8A63"/>
                </a:solidFill>
                <a:latin typeface="Microsoft YaHei"/>
              </a:rPr>
              <a:t>能回答（有数字、可复现）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· 某个统计特征是「谁」造出来的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· 冲击对「卖得多急」的敏感度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· 参数改动会把市场带偏多少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· 一个策略相对基线到底有没有赢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C04536"/>
                </a:solidFill>
                <a:latin typeface="Microsoft YaHei"/>
              </a:rPr>
              <a:t>还答不了（判不出或没做）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317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· 真实市场里参数的正确取值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· 收益率的可预测性（刻意不做：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   真实市场里它也接近不可预测）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· 参与覆盖面带来的冲击变化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· 「人」的学习与适应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F6FED"/>
                </a:solidFill>
                <a:latin typeface="Microsoft YaHei"/>
              </a:rPr>
              <a:t>下一步：在同一个台子上，把「凹冲击」补出来 —— 缺的是「远端长期挂单」这个结构。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快照 2026-10-04 ｜ 数字以仓库 docs/交易世界-讲给人听.html 为准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FED"/>
                </a:solidFill>
                <a:latin typeface="Microsoft YaHei"/>
              </a:rPr>
              <a:t>（这一页请按实际情况替换）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D21"/>
                </a:solidFill>
                <a:latin typeface="Microsoft YaHei"/>
              </a:rPr>
              <a:t>我们要什么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2011680" cy="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A1D21"/>
                </a:solidFill>
                <a:latin typeface="Microsoft YaHei"/>
              </a:rPr>
              <a:t>① 算力与时间：把「凹冲击」这条路径做成默认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A1D21"/>
                </a:solidFill>
                <a:latin typeface="Microsoft YaHei"/>
              </a:rPr>
              <a:t>   → 需要按 1000+ 种子量级跑几轮，把判不出的结论变成判得出的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A1D21"/>
                </a:solidFill>
                <a:latin typeface="Microsoft YaHei"/>
              </a:rPr>
              <a:t>② 数据与合作：真实市场的盘口深度 / 逐笔成交（公开 K 线里没有这些）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A1D21"/>
                </a:solidFill>
                <a:latin typeface="Microsoft YaHei"/>
              </a:rPr>
              <a:t>   → 有盘口才能把「标不了」的那几项变成可标定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A1D21"/>
                </a:solidFill>
                <a:latin typeface="Microsoft YaHei"/>
              </a:rPr>
              <a:t>③ 一起做研究的人：愿意接受「判不出来」也是结果的同行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B5760B"/>
                </a:solidFill>
                <a:latin typeface="Microsoft YaHei"/>
              </a:rPr>
              <a:t>⚠️ 我们不承诺收益：这个项目的定位是理解力的工具，不是策略来源。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B5760B"/>
                </a:solidFill>
                <a:latin typeface="Microsoft YaHei"/>
              </a:rPr>
              <a:t>   上面三条是研究投入，不是产品承诺 —— 请按你的实际诉求改写这一页。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快照 2026-10-04 ｜ 数字以仓库 docs/交易世界-讲给人听.html 为准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F6FED"/>
                </a:solidFill>
                <a:latin typeface="Microsoft YaHei"/>
              </a:rPr>
              <a:t>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D21"/>
                </a:solidFill>
                <a:latin typeface="Microsoft YaHei"/>
              </a:rPr>
              <a:t>口径与出处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2011680" cy="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· 本 deck 由 scripts/make_roadshow_deck.py 生成，数字**从产物现算**，没有手抄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· 逐条对照见 docs/结论清单-人类可读版.md（含「还没核的数字」一节）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· 通俗版与幻灯片版见 docs/交易世界-讲给人听.md / .html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· 三个可复现实验：experiments/explainer/（40 秒 / 45 秒 / 20 秒）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· ⚠️ 已发现一处数字漂移：另一份技术文档对同一个量给的是 10.76 倍（更早一次运行），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D21"/>
                </a:solidFill>
                <a:latin typeface="Microsoft YaHei"/>
              </a:rPr>
              <a:t>  本 deck 一律用产物值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8A63"/>
                </a:solidFill>
                <a:latin typeface="Microsoft YaHei"/>
              </a:rPr>
              <a:t>自检脚本会逐个数字把 HTML 幻灯片与产物比对 ⇒ 那份不会烂。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8A63"/>
                </a:solidFill>
                <a:latin typeface="Microsoft YaHei"/>
              </a:rPr>
              <a:t>本 PPTX 是快照（每页页脚已标注），如需引用请以仓库里的 HTML 为准。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快照 2026-10-04 ｜ 数字以仓库 docs/交易世界-讲给人听.html 为准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7A"/>
                </a:solidFill>
                <a:latin typeface="Microsoft YaHe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